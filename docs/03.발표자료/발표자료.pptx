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(ms)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BM-1-1VU</c:v>
                </c:pt>
                <c:pt idx="1">
                  <c:v>BM-1-10VU</c:v>
                </c:pt>
                <c:pt idx="2">
                  <c:v>BM-1-50VU</c:v>
                </c:pt>
                <c:pt idx="3">
                  <c:v>BM-2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212.48</c:v>
                </c:pt>
                <c:pt idx="1">
                  <c:v>221.88</c:v>
                </c:pt>
                <c:pt idx="2">
                  <c:v>339.84</c:v>
                </c:pt>
                <c:pt idx="3">
                  <c:v>214.68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18F-47D1-AB39-25A803700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 (ms)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BM-1-1VU</c:v>
                </c:pt>
                <c:pt idx="1">
                  <c:v>BM-1-10VU</c:v>
                </c:pt>
                <c:pt idx="2">
                  <c:v>BM-1-50VU</c:v>
                </c:pt>
                <c:pt idx="3">
                  <c:v>BM-2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218.52</c:v>
                </c:pt>
                <c:pt idx="1">
                  <c:v>274.32</c:v>
                </c:pt>
                <c:pt idx="2">
                  <c:v>929.4</c:v>
                </c:pt>
                <c:pt idx="3">
                  <c:v>262.12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8F-47D1-AB39-25A803700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최대 (ms)</c:v>
                </c:pt>
              </c:strCache>
            </c:strRef>
          </c:tx>
          <c:spPr>
            <a:solidFill>
              <a:srgbClr val="196B24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BM-1-1VU</c:v>
                </c:pt>
                <c:pt idx="1">
                  <c:v>BM-1-10VU</c:v>
                </c:pt>
                <c:pt idx="2">
                  <c:v>BM-1-50VU</c:v>
                </c:pt>
                <c:pt idx="3">
                  <c:v>BM-2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224.63</c:v>
                </c:pt>
                <c:pt idx="1">
                  <c:v>286.82</c:v>
                </c:pt>
                <c:pt idx="2">
                  <c:v>1138</c:v>
                </c:pt>
                <c:pt idx="3">
                  <c:v>286.86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8F-47D1-AB39-25A803700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0328176"/>
        <c:axId val="1171073136"/>
      </c:barChart>
      <c:catAx>
        <c:axId val="146032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ko-KR"/>
          </a:p>
        </c:txPr>
        <c:crossAx val="1171073136"/>
        <c:crosses val="autoZero"/>
        <c:auto val="1"/>
        <c:lblAlgn val="ctr"/>
        <c:lblOffset val="100"/>
        <c:noMultiLvlLbl val="1"/>
      </c:catAx>
      <c:valAx>
        <c:axId val="1171073136"/>
        <c:scaling>
          <c:orientation val="minMax"/>
        </c:scaling>
        <c:delete val="0"/>
        <c:axPos val="l"/>
        <c:majorGridlines>
          <c:spPr>
            <a:ln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ko-KR"/>
          </a:p>
        </c:txPr>
        <c:crossAx val="146032817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spPr>
        <a:noFill/>
      </c:spPr>
      <c:txPr>
        <a:bodyPr rot="0" vert="horz" anchor="ctr" anchorCtr="1"/>
        <a:lstStyle/>
        <a:p>
          <a:pPr>
            <a:defRPr sz="900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ko-K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인증과 접근 제어. JWT 기반 인증, 역할별 권한, 사용자별 클러스터 접근 범위 제한.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16576CC-284A-E42D-748B-1B3494DBC2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1D689D-7A22-63F8-9657-E375857551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1371" cy="6858000"/>
          </a:xfrm>
          <a:prstGeom prst="rect">
            <a:avLst/>
          </a:prstGeom>
          <a:solidFill>
            <a:srgbClr val="4B9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D13177-17CD-A3FD-91BE-B263AF4880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43" y="2467146"/>
            <a:ext cx="7801817" cy="439085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1723A15-9234-4D5B-9C68-10F5E048B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343974-955D-4B9F-97E2-B85553527A52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88761" cy="24058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3200" b="1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3200" b="1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20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쿠버네티스 환경에서의</a:t>
            </a:r>
          </a:p>
          <a:p>
            <a:pPr algn="ctr"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60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20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PaC 위반 대응 및 예외 관리 시스템 설계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8CF514-D5B8-421D-B46A-22B0510B3C65}"/>
              </a:ext>
            </a:extLst>
          </p:cNvPr>
          <p:cNvSpPr>
            <a:spLocks noGrp="1"/>
          </p:cNvSpPr>
          <p:nvPr/>
        </p:nvSpPr>
        <p:spPr>
          <a:xfrm>
            <a:off x="0" y="4525578"/>
            <a:ext cx="45720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buNone/>
              <a:defRPr sz="22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320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팀 팩</a:t>
            </a:r>
          </a:p>
        </p:txBody>
      </p:sp>
    </p:spTree>
    <p:extLst>
      <p:ext uri="{BB962C8B-B14F-4D97-AF65-F5344CB8AC3E}">
        <p14:creationId xmlns:p14="http://schemas.microsoft.com/office/powerpoint/2010/main" val="8652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663E719-40E4-49A7-B3C3-54D60F7B3B02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CFCE4E-C07D-4A4A-93C2-ECBBDA50D15A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발표 구성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702DBC32-A3B3-4412-89ED-85F9FC5314A9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58EB56B-ECFC-4554-84C3-EC5CB123C11F}"/>
              </a:ext>
            </a:extLst>
          </p:cNvPr>
          <p:cNvSpPr>
            <a:spLocks noGrp="1"/>
          </p:cNvSpPr>
          <p:nvPr/>
        </p:nvSpPr>
        <p:spPr>
          <a:xfrm>
            <a:off x="1504950" y="2095500"/>
            <a:ext cx="8382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B42275-DE8D-4099-99B1-CD542D295E16}"/>
              </a:ext>
            </a:extLst>
          </p:cNvPr>
          <p:cNvSpPr>
            <a:spLocks noGrp="1"/>
          </p:cNvSpPr>
          <p:nvPr/>
        </p:nvSpPr>
        <p:spPr>
          <a:xfrm>
            <a:off x="1866900" y="22669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556" lnSpcReduction="10000"/>
          </a:bodyPr>
          <a:lstStyle/>
          <a:p>
            <a:pPr>
              <a:buNone/>
              <a:defRPr sz="22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8F3B3D-506B-4F4D-B345-29DCCB040F3E}"/>
              </a:ext>
            </a:extLst>
          </p:cNvPr>
          <p:cNvSpPr>
            <a:spLocks noGrp="1"/>
          </p:cNvSpPr>
          <p:nvPr/>
        </p:nvSpPr>
        <p:spPr>
          <a:xfrm>
            <a:off x="3009900" y="22669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buNone/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연구 배경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9AA002-CF2B-4631-967F-8C48774469D8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buNone/>
              <a:defRPr sz="150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PaC 위반 관리 필요성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655201D-B42D-4503-B4BB-0CA06A20190A}"/>
              </a:ext>
            </a:extLst>
          </p:cNvPr>
          <p:cNvSpPr>
            <a:spLocks noGrp="1"/>
          </p:cNvSpPr>
          <p:nvPr/>
        </p:nvSpPr>
        <p:spPr>
          <a:xfrm>
            <a:off x="1504950" y="3314700"/>
            <a:ext cx="8382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3D5422-9AE9-4D8D-B4E5-864031B9A8E9}"/>
              </a:ext>
            </a:extLst>
          </p:cNvPr>
          <p:cNvSpPr>
            <a:spLocks noGrp="1"/>
          </p:cNvSpPr>
          <p:nvPr/>
        </p:nvSpPr>
        <p:spPr>
          <a:xfrm>
            <a:off x="1866900" y="34861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556" lnSpcReduction="10000"/>
          </a:bodyPr>
          <a:lstStyle/>
          <a:p>
            <a:pPr>
              <a:buNone/>
              <a:defRPr sz="22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A77BEE-BEB0-409B-8642-64FBD4EF2360}"/>
              </a:ext>
            </a:extLst>
          </p:cNvPr>
          <p:cNvSpPr>
            <a:spLocks noGrp="1"/>
          </p:cNvSpPr>
          <p:nvPr/>
        </p:nvSpPr>
        <p:spPr>
          <a:xfrm>
            <a:off x="3009900" y="34861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buNone/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178F5E-BC88-4603-B92D-120181D516B0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buNone/>
              <a:defRPr sz="150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아키텍처와 핵심 기술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C273988-8E25-4790-A75F-BC4275F437A7}"/>
              </a:ext>
            </a:extLst>
          </p:cNvPr>
          <p:cNvSpPr>
            <a:spLocks noGrp="1"/>
          </p:cNvSpPr>
          <p:nvPr/>
        </p:nvSpPr>
        <p:spPr>
          <a:xfrm>
            <a:off x="1504950" y="4533900"/>
            <a:ext cx="8382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4B445F-0E87-4FC1-81FF-06E65E9B09A6}"/>
              </a:ext>
            </a:extLst>
          </p:cNvPr>
          <p:cNvSpPr>
            <a:spLocks noGrp="1"/>
          </p:cNvSpPr>
          <p:nvPr/>
        </p:nvSpPr>
        <p:spPr>
          <a:xfrm>
            <a:off x="1866900" y="4705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556" lnSpcReduction="10000"/>
          </a:bodyPr>
          <a:lstStyle/>
          <a:p>
            <a:pPr>
              <a:buNone/>
              <a:defRPr sz="22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1FD24F-44FC-4D58-ACBB-0950FA993EB3}"/>
              </a:ext>
            </a:extLst>
          </p:cNvPr>
          <p:cNvSpPr>
            <a:spLocks noGrp="1"/>
          </p:cNvSpPr>
          <p:nvPr/>
        </p:nvSpPr>
        <p:spPr>
          <a:xfrm>
            <a:off x="3009900" y="47053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buNone/>
              <a:def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C6DAB8-81D4-4CD5-BEC3-9ACE737E13CF}"/>
              </a:ext>
            </a:extLst>
          </p:cNvPr>
          <p:cNvSpPr>
            <a:spLocks noGrp="1"/>
          </p:cNvSpPr>
          <p:nvPr/>
        </p:nvSpPr>
        <p:spPr>
          <a:xfrm>
            <a:off x="6477000" y="47625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buNone/>
              <a:defRPr sz="150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구현 화면과 검증 결과</a:t>
            </a:r>
          </a:p>
        </p:txBody>
      </p:sp>
    </p:spTree>
    <p:extLst>
      <p:ext uri="{BB962C8B-B14F-4D97-AF65-F5344CB8AC3E}">
        <p14:creationId xmlns:p14="http://schemas.microsoft.com/office/powerpoint/2010/main" val="119550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98BBBC-DB50-4113-BD16-8BBC8D5846D2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연구 배경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E91275-6658-4AE8-868D-9990EAD89D12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기존 Kubernetes 정책 운영 문제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9BCA5935-3845-4560-AB3C-A8E6445234DD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DFE0A6-09CE-49BB-8176-391E917B3EB2}"/>
              </a:ext>
            </a:extLst>
          </p:cNvPr>
          <p:cNvSpPr>
            <a:spLocks noGrp="1"/>
          </p:cNvSpPr>
          <p:nvPr/>
        </p:nvSpPr>
        <p:spPr>
          <a:xfrm>
            <a:off x="1352550" y="2000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>
              <a:buNone/>
              <a:defRPr sz="22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기존 정책 예외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2CDD19-BBDF-4151-B1AD-346735A346AB}"/>
              </a:ext>
            </a:extLst>
          </p:cNvPr>
          <p:cNvSpPr>
            <a:spLocks noGrp="1"/>
          </p:cNvSpPr>
          <p:nvPr/>
        </p:nvSpPr>
        <p:spPr>
          <a:xfrm>
            <a:off x="1447800" y="2724149"/>
            <a:ext cx="4095750" cy="2486089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 요청 정보 분산</a:t>
            </a:r>
            <a:endParaRPr sz="1800" b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800" b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승인 이력 추적 어려움</a:t>
            </a:r>
          </a:p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800" b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적용 범위 확인 부담</a:t>
            </a:r>
          </a:p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800" b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위반 원인 파악 지연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E0002048-DCAF-28B2-2A23-93D5760CC505}"/>
              </a:ext>
            </a:extLst>
          </p:cNvPr>
          <p:cNvSpPr>
            <a:spLocks noGrp="1"/>
          </p:cNvSpPr>
          <p:nvPr/>
        </p:nvSpPr>
        <p:spPr>
          <a:xfrm>
            <a:off x="4988378" y="3488227"/>
            <a:ext cx="2481943" cy="478966"/>
          </a:xfrm>
          <a:prstGeom prst="rightArrow">
            <a:avLst/>
          </a:prstGeom>
          <a:solidFill>
            <a:srgbClr val="2F80E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56436D-B3C6-99CB-3B4E-0B18914BCC2A}"/>
              </a:ext>
            </a:extLst>
          </p:cNvPr>
          <p:cNvSpPr>
            <a:spLocks noGrp="1"/>
          </p:cNvSpPr>
          <p:nvPr/>
        </p:nvSpPr>
        <p:spPr>
          <a:xfrm>
            <a:off x="8096250" y="352768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>
              <a:buNone/>
              <a:defRPr sz="22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통합 관리 시스템 필요</a:t>
            </a:r>
          </a:p>
        </p:txBody>
      </p:sp>
    </p:spTree>
    <p:extLst>
      <p:ext uri="{BB962C8B-B14F-4D97-AF65-F5344CB8AC3E}">
        <p14:creationId xmlns:p14="http://schemas.microsoft.com/office/powerpoint/2010/main" val="105923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F0801E7-C042-436E-9AF7-271AA94AE935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연구 배경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6FC1F6-85D9-44A5-9BE3-A1A535AF2C3B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연구 목표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BB644807-25C3-4FFF-94A3-9C1A4F5FF0C3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DF73A9-A080-4C16-968D-846BCD6C7E78}"/>
              </a:ext>
            </a:extLst>
          </p:cNvPr>
          <p:cNvSpPr>
            <a:spLocks noGrp="1"/>
          </p:cNvSpPr>
          <p:nvPr/>
        </p:nvSpPr>
        <p:spPr>
          <a:xfrm>
            <a:off x="1371600" y="2076450"/>
            <a:ext cx="4095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B838E1-8D27-41AA-B226-C7D1EFB762EB}"/>
              </a:ext>
            </a:extLst>
          </p:cNvPr>
          <p:cNvSpPr>
            <a:spLocks noGrp="1"/>
          </p:cNvSpPr>
          <p:nvPr/>
        </p:nvSpPr>
        <p:spPr>
          <a:xfrm>
            <a:off x="1638300" y="22860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7" lnSpcReduction="20000"/>
          </a:bodyPr>
          <a:lstStyle/>
          <a:p>
            <a:pPr>
              <a:buNone/>
              <a:def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위반 정보 통합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534399-5F94-4CBE-A640-DA9098B3D1B7}"/>
              </a:ext>
            </a:extLst>
          </p:cNvPr>
          <p:cNvSpPr>
            <a:spLocks noGrp="1"/>
          </p:cNvSpPr>
          <p:nvPr/>
        </p:nvSpPr>
        <p:spPr>
          <a:xfrm>
            <a:off x="1638299" y="2686050"/>
            <a:ext cx="3641271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buNone/>
              <a:def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정책 위반 정보와 원인, 수정 방향을 한 화면에서 제공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C27EF03-86F5-41B8-AB86-798A3E3AB27F}"/>
              </a:ext>
            </a:extLst>
          </p:cNvPr>
          <p:cNvSpPr>
            <a:spLocks noGrp="1"/>
          </p:cNvSpPr>
          <p:nvPr/>
        </p:nvSpPr>
        <p:spPr>
          <a:xfrm>
            <a:off x="6134100" y="2076450"/>
            <a:ext cx="4095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D7D425-CD9A-4BA7-A862-C29AACA6B093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7" lnSpcReduction="20000"/>
          </a:bodyPr>
          <a:lstStyle/>
          <a:p>
            <a:pPr>
              <a:buNone/>
              <a:def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예외 요청 검토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054723-87A1-4DE0-8511-D6FD71758B46}"/>
              </a:ext>
            </a:extLst>
          </p:cNvPr>
          <p:cNvSpPr>
            <a:spLocks noGrp="1"/>
          </p:cNvSpPr>
          <p:nvPr/>
        </p:nvSpPr>
        <p:spPr>
          <a:xfrm>
            <a:off x="6400800" y="26860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buNone/>
              <a:def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역할과 클러스터 범위 기반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4423BB-2B70-4763-8605-6F8E0A46DBE2}"/>
              </a:ext>
            </a:extLst>
          </p:cNvPr>
          <p:cNvSpPr>
            <a:spLocks noGrp="1"/>
          </p:cNvSpPr>
          <p:nvPr/>
        </p:nvSpPr>
        <p:spPr>
          <a:xfrm>
            <a:off x="1371600" y="3543300"/>
            <a:ext cx="4095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714B2D-0F18-4281-A6FE-881F6830C8DB}"/>
              </a:ext>
            </a:extLst>
          </p:cNvPr>
          <p:cNvSpPr>
            <a:spLocks noGrp="1"/>
          </p:cNvSpPr>
          <p:nvPr/>
        </p:nvSpPr>
        <p:spPr>
          <a:xfrm>
            <a:off x="1638300" y="37528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7" lnSpcReduction="20000"/>
          </a:bodyPr>
          <a:lstStyle/>
          <a:p>
            <a:pPr>
              <a:buNone/>
              <a:def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적용 상태 구분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73CBE6-DD4A-40A6-8636-0752A94C9CAB}"/>
              </a:ext>
            </a:extLst>
          </p:cNvPr>
          <p:cNvSpPr>
            <a:spLocks noGrp="1"/>
          </p:cNvSpPr>
          <p:nvPr/>
        </p:nvSpPr>
        <p:spPr>
          <a:xfrm>
            <a:off x="1638300" y="41529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buNone/>
              <a:def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승인 결과와 Kubernetes 상태 구분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086F251-C656-4737-9BD3-0854F86A5F3D}"/>
              </a:ext>
            </a:extLst>
          </p:cNvPr>
          <p:cNvSpPr>
            <a:spLocks noGrp="1"/>
          </p:cNvSpPr>
          <p:nvPr/>
        </p:nvSpPr>
        <p:spPr>
          <a:xfrm>
            <a:off x="6134100" y="3543300"/>
            <a:ext cx="4095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81D4D2-C836-4584-AFED-DAB4F4EFE102}"/>
              </a:ext>
            </a:extLst>
          </p:cNvPr>
          <p:cNvSpPr>
            <a:spLocks noGrp="1"/>
          </p:cNvSpPr>
          <p:nvPr/>
        </p:nvSpPr>
        <p:spPr>
          <a:xfrm>
            <a:off x="6400800" y="37528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7" lnSpcReduction="20000"/>
          </a:bodyPr>
          <a:lstStyle/>
          <a:p>
            <a:pPr>
              <a:buNone/>
              <a:def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전체 생명주기 관리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259C31-1510-4FAC-BCC8-0D80E731FBB0}"/>
              </a:ext>
            </a:extLst>
          </p:cNvPr>
          <p:cNvSpPr>
            <a:spLocks noGrp="1"/>
          </p:cNvSpPr>
          <p:nvPr/>
        </p:nvSpPr>
        <p:spPr>
          <a:xfrm>
            <a:off x="6400800" y="41529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buNone/>
              <a:defRPr sz="1350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예외 적용, 말료, 취소, 감사 기록 추적</a:t>
            </a:r>
            <a:endParaRPr sz="1350" b="0">
              <a:solidFill>
                <a:srgbClr val="5F6F82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3629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5A9E273-74DA-4247-B611-22776E2D34AE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B230AC-A5F0-491F-A3A6-B5760FEE2820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인증과 접근 제어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2ABBC57B-BAE9-46C9-8853-4D4B8D62FD45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6F79EC-DF1F-4F94-8FFF-0B384EA815D9}"/>
              </a:ext>
            </a:extLst>
          </p:cNvPr>
          <p:cNvSpPr>
            <a:spLocks noGrp="1"/>
          </p:cNvSpPr>
          <p:nvPr/>
        </p:nvSpPr>
        <p:spPr>
          <a:xfrm>
            <a:off x="1123950" y="1524000"/>
            <a:ext cx="847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>
              <a:defRPr sz="172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역할과 클러스터 범위 기반 권한 관리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B19CFB3-9CA4-498A-921D-381EBDDEC604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390525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D9CF011-4386-4BE9-8FB2-B53DED65E622}"/>
              </a:ext>
            </a:extLst>
          </p:cNvPr>
          <p:cNvSpPr>
            <a:spLocks noGrp="1"/>
          </p:cNvSpPr>
          <p:nvPr/>
        </p:nvSpPr>
        <p:spPr>
          <a:xfrm>
            <a:off x="1238250" y="2152650"/>
            <a:ext cx="367665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2FBCB8-B144-4B2F-A1C0-0AED316C74EE}"/>
              </a:ext>
            </a:extLst>
          </p:cNvPr>
          <p:cNvSpPr>
            <a:spLocks noGrp="1"/>
          </p:cNvSpPr>
          <p:nvPr/>
        </p:nvSpPr>
        <p:spPr>
          <a:xfrm>
            <a:off x="1409700" y="2276475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 err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100" b="1" dirty="0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역할</a:t>
            </a:r>
            <a:endParaRPr sz="1100" b="1" dirty="0">
              <a:solidFill>
                <a:srgbClr val="0821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39D38C-99A4-460C-99BF-B184FC654716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3333750" cy="2895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JWT Access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Token과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Refresh Token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인증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ADMIN, APPROVER, REQUESTER, VIEWER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구분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역할별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Permission API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사용자별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클러스터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접근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범위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제한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요청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주체와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검토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주체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분리</a:t>
            </a: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9621FBD-9BCB-463F-999C-3202CD366291}"/>
              </a:ext>
            </a:extLst>
          </p:cNvPr>
          <p:cNvSpPr>
            <a:spLocks noGrp="1"/>
          </p:cNvSpPr>
          <p:nvPr/>
        </p:nvSpPr>
        <p:spPr>
          <a:xfrm>
            <a:off x="5334000" y="2038350"/>
            <a:ext cx="28575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90850F7-1309-45BD-8462-D1FEEEC6F83C}"/>
              </a:ext>
            </a:extLst>
          </p:cNvPr>
          <p:cNvSpPr>
            <a:spLocks noGrp="1"/>
          </p:cNvSpPr>
          <p:nvPr/>
        </p:nvSpPr>
        <p:spPr>
          <a:xfrm>
            <a:off x="5448300" y="2152650"/>
            <a:ext cx="262890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5F4715-2E07-4F3F-BE79-0FC2BD81741F}"/>
              </a:ext>
            </a:extLst>
          </p:cNvPr>
          <p:cNvSpPr>
            <a:spLocks noGrp="1"/>
          </p:cNvSpPr>
          <p:nvPr/>
        </p:nvSpPr>
        <p:spPr>
          <a:xfrm>
            <a:off x="5619750" y="22764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A2A6B0E-BCC6-4BE3-BD8E-9C5E7614057B}"/>
              </a:ext>
            </a:extLst>
          </p:cNvPr>
          <p:cNvSpPr>
            <a:spLocks noGrp="1"/>
          </p:cNvSpPr>
          <p:nvPr/>
        </p:nvSpPr>
        <p:spPr>
          <a:xfrm>
            <a:off x="5657850" y="28194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DD7E12-991A-464A-8EDF-80888CB00DF5}"/>
              </a:ext>
            </a:extLst>
          </p:cNvPr>
          <p:cNvSpPr>
            <a:spLocks noGrp="1"/>
          </p:cNvSpPr>
          <p:nvPr/>
        </p:nvSpPr>
        <p:spPr>
          <a:xfrm>
            <a:off x="5829300" y="29337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로그인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요청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5E17C16B-A6B6-42D0-873C-95A1F8509055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FA9C4BF-B14A-4318-B955-E4C587F5AC13}"/>
              </a:ext>
            </a:extLst>
          </p:cNvPr>
          <p:cNvSpPr>
            <a:spLocks noGrp="1"/>
          </p:cNvSpPr>
          <p:nvPr/>
        </p:nvSpPr>
        <p:spPr>
          <a:xfrm>
            <a:off x="5657850" y="34099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2C1BF1-FDB1-4BA9-AA30-CA943E56B72F}"/>
              </a:ext>
            </a:extLst>
          </p:cNvPr>
          <p:cNvSpPr>
            <a:spLocks noGrp="1"/>
          </p:cNvSpPr>
          <p:nvPr/>
        </p:nvSpPr>
        <p:spPr>
          <a:xfrm>
            <a:off x="5829300" y="35242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 err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1000" b="1" dirty="0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발급</a:t>
            </a:r>
            <a:endParaRPr sz="1000" b="1" dirty="0">
              <a:solidFill>
                <a:srgbClr val="2F80E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C15979F7-9781-4058-B332-5139B065AA44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4C1A1E-22CC-487B-A071-E7B53ABAB5B7}"/>
              </a:ext>
            </a:extLst>
          </p:cNvPr>
          <p:cNvSpPr>
            <a:spLocks noGrp="1"/>
          </p:cNvSpPr>
          <p:nvPr/>
        </p:nvSpPr>
        <p:spPr>
          <a:xfrm>
            <a:off x="5657850" y="40005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6AA146-2EA4-4F75-BB0D-500EED2888DF}"/>
              </a:ext>
            </a:extLst>
          </p:cNvPr>
          <p:cNvSpPr>
            <a:spLocks noGrp="1"/>
          </p:cNvSpPr>
          <p:nvPr/>
        </p:nvSpPr>
        <p:spPr>
          <a:xfrm>
            <a:off x="5829300" y="41148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권한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9F889AE-8BB9-4EF2-86C6-71FD1A938807}"/>
              </a:ext>
            </a:extLst>
          </p:cNvPr>
          <p:cNvSpPr>
            <a:spLocks noGrp="1"/>
          </p:cNvSpPr>
          <p:nvPr/>
        </p:nvSpPr>
        <p:spPr>
          <a:xfrm>
            <a:off x="6762750" y="44577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5614829-9EF9-4440-BAF3-5A20D7763B55}"/>
              </a:ext>
            </a:extLst>
          </p:cNvPr>
          <p:cNvSpPr>
            <a:spLocks noGrp="1"/>
          </p:cNvSpPr>
          <p:nvPr/>
        </p:nvSpPr>
        <p:spPr>
          <a:xfrm>
            <a:off x="5657850" y="45910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9F8E7E-CC9F-4004-AC36-B98F050BCC9E}"/>
              </a:ext>
            </a:extLst>
          </p:cNvPr>
          <p:cNvSpPr>
            <a:spLocks noGrp="1"/>
          </p:cNvSpPr>
          <p:nvPr/>
        </p:nvSpPr>
        <p:spPr>
          <a:xfrm>
            <a:off x="5829300" y="47053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클러스터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범위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3D008BD8-47EF-4286-9AE2-967E1DA3DCB7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91E8791-77B3-412F-A9B4-0360DDF489C2}"/>
              </a:ext>
            </a:extLst>
          </p:cNvPr>
          <p:cNvSpPr>
            <a:spLocks noGrp="1"/>
          </p:cNvSpPr>
          <p:nvPr/>
        </p:nvSpPr>
        <p:spPr>
          <a:xfrm>
            <a:off x="5657850" y="51816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1E6C950-6848-4B20-92D9-FD9F827D239E}"/>
              </a:ext>
            </a:extLst>
          </p:cNvPr>
          <p:cNvSpPr>
            <a:spLocks noGrp="1"/>
          </p:cNvSpPr>
          <p:nvPr/>
        </p:nvSpPr>
        <p:spPr>
          <a:xfrm>
            <a:off x="5829300" y="52959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접근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허용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B055DA-C6C0-4D35-8F98-1EED303FEA4E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724150" cy="1847850"/>
          </a:xfrm>
          <a:prstGeom prst="roundRect">
            <a:avLst>
              <a:gd name="adj" fmla="val 4124"/>
            </a:avLst>
          </a:prstGeom>
          <a:solidFill>
            <a:srgbClr val="F7FAFD"/>
          </a:solidFill>
          <a:ln w="10478">
            <a:solidFill>
              <a:srgbClr val="D7E3F0"/>
            </a:solidFill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49E792-4E26-4E98-83D5-268D4E4D6380}"/>
              </a:ext>
            </a:extLst>
          </p:cNvPr>
          <p:cNvSpPr>
            <a:spLocks noGrp="1"/>
          </p:cNvSpPr>
          <p:nvPr/>
        </p:nvSpPr>
        <p:spPr>
          <a:xfrm>
            <a:off x="8839200" y="3048000"/>
            <a:ext cx="22669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 lnSpcReduction="20000"/>
          </a:bodyPr>
          <a:lstStyle/>
          <a:p>
            <a:pPr>
              <a:defRPr sz="15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1500" b="1" dirty="0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문제</a:t>
            </a:r>
            <a:endParaRPr sz="1500" b="1" dirty="0">
              <a:solidFill>
                <a:srgbClr val="2F80E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D61DB56-ABB3-4BA9-9E04-FB436129A182}"/>
              </a:ext>
            </a:extLst>
          </p:cNvPr>
          <p:cNvSpPr>
            <a:spLocks noGrp="1"/>
          </p:cNvSpPr>
          <p:nvPr/>
        </p:nvSpPr>
        <p:spPr>
          <a:xfrm>
            <a:off x="8839200" y="3409950"/>
            <a:ext cx="2266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무분별한 예외 요청과 자기 승인 방지</a:t>
            </a:r>
          </a:p>
        </p:txBody>
      </p:sp>
    </p:spTree>
    <p:extLst>
      <p:ext uri="{BB962C8B-B14F-4D97-AF65-F5344CB8AC3E}">
        <p14:creationId xmlns:p14="http://schemas.microsoft.com/office/powerpoint/2010/main" val="203524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32E93CB-E5AA-ED87-1DA2-AD2F73B534E7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C4AD01-CB38-D38F-EE56-E7E321A6D3C9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위반 조회와 원인 설명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45EB19EF-01DE-9D42-709D-99C9B7543240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B6D7C1-01AD-44AB-843D-B063C7A143C3}"/>
              </a:ext>
            </a:extLst>
          </p:cNvPr>
          <p:cNvSpPr>
            <a:spLocks noGrp="1"/>
          </p:cNvSpPr>
          <p:nvPr/>
        </p:nvSpPr>
        <p:spPr>
          <a:xfrm>
            <a:off x="1123950" y="1524000"/>
            <a:ext cx="847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>
              <a:defRPr sz="1725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rPr>
              <a:t>정책 위반 정보와 수정 방향 통합 제공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2C3F96-A823-46A9-B42D-1D605C9E4138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390525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D80D90-CD6B-4412-88C6-51D97DE76327}"/>
              </a:ext>
            </a:extLst>
          </p:cNvPr>
          <p:cNvSpPr>
            <a:spLocks noGrp="1"/>
          </p:cNvSpPr>
          <p:nvPr/>
        </p:nvSpPr>
        <p:spPr>
          <a:xfrm>
            <a:off x="1238250" y="2152650"/>
            <a:ext cx="367665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038C45-02B6-4A4D-B2CD-1FE54D4B5A6E}"/>
              </a:ext>
            </a:extLst>
          </p:cNvPr>
          <p:cNvSpPr>
            <a:spLocks noGrp="1"/>
          </p:cNvSpPr>
          <p:nvPr/>
        </p:nvSpPr>
        <p:spPr>
          <a:xfrm>
            <a:off x="1409700" y="2276475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650" b="1" dirty="0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역할</a:t>
            </a:r>
            <a:endParaRPr sz="1650" b="1" dirty="0">
              <a:solidFill>
                <a:srgbClr val="08213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F63F2E-69AC-4882-BEE5-50B46BC42318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3333750" cy="2895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PolicyReport와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ClusterPolicyReport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조회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네임스페이스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심각도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필터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적용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일부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클러스터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장애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우선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반환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메시지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YAML,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리소스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매니페스트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분석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요약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단계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YAML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제공</a:t>
            </a: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AB7FD2-4C6E-4A1C-933C-415D0E5D2CE0}"/>
              </a:ext>
            </a:extLst>
          </p:cNvPr>
          <p:cNvSpPr>
            <a:spLocks noGrp="1"/>
          </p:cNvSpPr>
          <p:nvPr/>
        </p:nvSpPr>
        <p:spPr>
          <a:xfrm>
            <a:off x="5334000" y="2038350"/>
            <a:ext cx="28575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FF381A-9063-4952-8EAF-22CDD49046E4}"/>
              </a:ext>
            </a:extLst>
          </p:cNvPr>
          <p:cNvSpPr>
            <a:spLocks noGrp="1"/>
          </p:cNvSpPr>
          <p:nvPr/>
        </p:nvSpPr>
        <p:spPr>
          <a:xfrm>
            <a:off x="5448300" y="2152650"/>
            <a:ext cx="262890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57FA93-4540-45F6-A15F-07D67F378813}"/>
              </a:ext>
            </a:extLst>
          </p:cNvPr>
          <p:cNvSpPr>
            <a:spLocks noGrp="1"/>
          </p:cNvSpPr>
          <p:nvPr/>
        </p:nvSpPr>
        <p:spPr>
          <a:xfrm>
            <a:off x="5619750" y="22764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F4ED5A-88B3-47B3-8F6F-9CAF73BB19EB}"/>
              </a:ext>
            </a:extLst>
          </p:cNvPr>
          <p:cNvSpPr>
            <a:spLocks noGrp="1"/>
          </p:cNvSpPr>
          <p:nvPr/>
        </p:nvSpPr>
        <p:spPr>
          <a:xfrm>
            <a:off x="5657850" y="28194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674CC6-5BEE-4244-89D7-F250F4474A2F}"/>
              </a:ext>
            </a:extLst>
          </p:cNvPr>
          <p:cNvSpPr>
            <a:spLocks noGrp="1"/>
          </p:cNvSpPr>
          <p:nvPr/>
        </p:nvSpPr>
        <p:spPr>
          <a:xfrm>
            <a:off x="5829300" y="29337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위반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보고서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수집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1A870E95-AA82-4867-AE4A-A75809623F9A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B770AEF-8F7A-48A7-8EC9-13565788AACD}"/>
              </a:ext>
            </a:extLst>
          </p:cNvPr>
          <p:cNvSpPr>
            <a:spLocks noGrp="1"/>
          </p:cNvSpPr>
          <p:nvPr/>
        </p:nvSpPr>
        <p:spPr>
          <a:xfrm>
            <a:off x="5657850" y="34099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518AC4-A49F-44A8-B847-03D95B71D5DD}"/>
              </a:ext>
            </a:extLst>
          </p:cNvPr>
          <p:cNvSpPr>
            <a:spLocks noGrp="1"/>
          </p:cNvSpPr>
          <p:nvPr/>
        </p:nvSpPr>
        <p:spPr>
          <a:xfrm>
            <a:off x="5829300" y="35242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 err="1">
                <a:solidFill>
                  <a:srgbClr val="16B88F"/>
                </a:solidFill>
                <a:latin typeface="Malgun Gothic"/>
                <a:ea typeface="Malgun Gothic"/>
                <a:cs typeface="Malgun Gothic"/>
              </a:rPr>
              <a:t>필터</a:t>
            </a:r>
            <a:r>
              <a:rPr sz="1000" b="1" dirty="0">
                <a:solidFill>
                  <a:srgbClr val="16B88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16B88F"/>
                </a:solidFill>
                <a:latin typeface="Malgun Gothic"/>
                <a:ea typeface="Malgun Gothic"/>
                <a:cs typeface="Malgun Gothic"/>
              </a:rPr>
              <a:t>적용</a:t>
            </a:r>
            <a:endParaRPr sz="1000" b="1" dirty="0">
              <a:solidFill>
                <a:srgbClr val="16B88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E2D145A1-CEB1-4986-8EB8-C14552D21484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D680BBC-96C1-48B3-8AE5-1FF77A1B6DF0}"/>
              </a:ext>
            </a:extLst>
          </p:cNvPr>
          <p:cNvSpPr>
            <a:spLocks noGrp="1"/>
          </p:cNvSpPr>
          <p:nvPr/>
        </p:nvSpPr>
        <p:spPr>
          <a:xfrm>
            <a:off x="5657850" y="40005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83E76D-0697-4E6A-BBE2-24C4BDC7F401}"/>
              </a:ext>
            </a:extLst>
          </p:cNvPr>
          <p:cNvSpPr>
            <a:spLocks noGrp="1"/>
          </p:cNvSpPr>
          <p:nvPr/>
        </p:nvSpPr>
        <p:spPr>
          <a:xfrm>
            <a:off x="5829300" y="41148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YAML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연결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77537BE-90CA-4E7B-A785-078702BAA7E4}"/>
              </a:ext>
            </a:extLst>
          </p:cNvPr>
          <p:cNvSpPr>
            <a:spLocks noGrp="1"/>
          </p:cNvSpPr>
          <p:nvPr/>
        </p:nvSpPr>
        <p:spPr>
          <a:xfrm>
            <a:off x="6762750" y="44577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DA47B8E-AA8D-4608-855D-0F604C0AA41E}"/>
              </a:ext>
            </a:extLst>
          </p:cNvPr>
          <p:cNvSpPr>
            <a:spLocks noGrp="1"/>
          </p:cNvSpPr>
          <p:nvPr/>
        </p:nvSpPr>
        <p:spPr>
          <a:xfrm>
            <a:off x="5657850" y="45910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64FC161-6C5F-4810-900E-2942AF856A6A}"/>
              </a:ext>
            </a:extLst>
          </p:cNvPr>
          <p:cNvSpPr>
            <a:spLocks noGrp="1"/>
          </p:cNvSpPr>
          <p:nvPr/>
        </p:nvSpPr>
        <p:spPr>
          <a:xfrm>
            <a:off x="5829300" y="47053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원인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A97E160B-F63A-4568-A359-C9A78C0F4C21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022FA04-45A6-454F-B84D-0E0CD83AAD01}"/>
              </a:ext>
            </a:extLst>
          </p:cNvPr>
          <p:cNvSpPr>
            <a:spLocks noGrp="1"/>
          </p:cNvSpPr>
          <p:nvPr/>
        </p:nvSpPr>
        <p:spPr>
          <a:xfrm>
            <a:off x="5657850" y="51816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1A9377-6FAE-4A89-BDA8-4D04C9292EB2}"/>
              </a:ext>
            </a:extLst>
          </p:cNvPr>
          <p:cNvSpPr>
            <a:spLocks noGrp="1"/>
          </p:cNvSpPr>
          <p:nvPr/>
        </p:nvSpPr>
        <p:spPr>
          <a:xfrm>
            <a:off x="5829300" y="52959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방향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F4E3AD6-0707-4A03-91EA-42A7519F0C53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2724150" cy="1847850"/>
          </a:xfrm>
          <a:prstGeom prst="roundRect">
            <a:avLst>
              <a:gd name="adj" fmla="val 4124"/>
            </a:avLst>
          </a:prstGeom>
          <a:solidFill>
            <a:srgbClr val="F7FAFD"/>
          </a:solidFill>
          <a:ln w="10478">
            <a:solidFill>
              <a:srgbClr val="D7E3F0"/>
            </a:solidFill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5FBA6E3-3BDA-43F1-9514-DA3AD227EB04}"/>
              </a:ext>
            </a:extLst>
          </p:cNvPr>
          <p:cNvSpPr>
            <a:spLocks noGrp="1"/>
          </p:cNvSpPr>
          <p:nvPr/>
        </p:nvSpPr>
        <p:spPr>
          <a:xfrm>
            <a:off x="8839200" y="3048000"/>
            <a:ext cx="22669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 lnSpcReduction="20000"/>
          </a:bodyPr>
          <a:lstStyle/>
          <a:p>
            <a:pPr>
              <a:defRPr sz="1500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rPr>
              <a:t>해결 문제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A77F203-B1A3-43C0-8B21-F91884378077}"/>
              </a:ext>
            </a:extLst>
          </p:cNvPr>
          <p:cNvSpPr>
            <a:spLocks noGrp="1"/>
          </p:cNvSpPr>
          <p:nvPr/>
        </p:nvSpPr>
        <p:spPr>
          <a:xfrm>
            <a:off x="8839200" y="3409950"/>
            <a:ext cx="2266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분산된 위반 정보와 수정 방법 파악 지연</a:t>
            </a:r>
          </a:p>
        </p:txBody>
      </p:sp>
    </p:spTree>
    <p:extLst>
      <p:ext uri="{BB962C8B-B14F-4D97-AF65-F5344CB8AC3E}">
        <p14:creationId xmlns:p14="http://schemas.microsoft.com/office/powerpoint/2010/main" val="279443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B3F1698-5E3D-27F1-7658-E3689BBB4EF9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77AFE4-EE53-CBF3-E340-AFE76C3AC652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 요청 생명주기 관리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55696607-2BC5-780F-5146-18DCC371E30F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667E56-8128-4F55-9609-AC2C446F945D}"/>
              </a:ext>
            </a:extLst>
          </p:cNvPr>
          <p:cNvSpPr>
            <a:spLocks noGrp="1"/>
          </p:cNvSpPr>
          <p:nvPr/>
        </p:nvSpPr>
        <p:spPr>
          <a:xfrm>
            <a:off x="1123950" y="1524000"/>
            <a:ext cx="847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>
              <a:defRPr sz="1725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rPr>
              <a:t>요청부터 승인, 적용, 만료, 취소까지 상태 기반 관리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515832-9231-4F88-8672-20F2CCE65FE1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390525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AAF4280-4C8D-468E-9990-9F2E4EA02361}"/>
              </a:ext>
            </a:extLst>
          </p:cNvPr>
          <p:cNvSpPr>
            <a:spLocks noGrp="1"/>
          </p:cNvSpPr>
          <p:nvPr/>
        </p:nvSpPr>
        <p:spPr>
          <a:xfrm>
            <a:off x="1238250" y="2152650"/>
            <a:ext cx="367665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746157-953A-4DC0-8EA4-47A9DC279411}"/>
              </a:ext>
            </a:extLst>
          </p:cNvPr>
          <p:cNvSpPr>
            <a:spLocks noGrp="1"/>
          </p:cNvSpPr>
          <p:nvPr/>
        </p:nvSpPr>
        <p:spPr>
          <a:xfrm>
            <a:off x="1409700" y="2276475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핵심 역할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19E2D5-4116-47E3-B066-AC90408F7716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3333750" cy="2895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PENDING, APPLYING, APPROVED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전이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관리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결정과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적용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분리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만료와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취소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리소스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회수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적용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실패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재시도와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FAILED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요청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만료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취소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감사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기록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보존</a:t>
            </a: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5A230B0-57E2-4C92-9D65-41DF4A0F8031}"/>
              </a:ext>
            </a:extLst>
          </p:cNvPr>
          <p:cNvSpPr>
            <a:spLocks noGrp="1"/>
          </p:cNvSpPr>
          <p:nvPr/>
        </p:nvSpPr>
        <p:spPr>
          <a:xfrm>
            <a:off x="5334000" y="2038350"/>
            <a:ext cx="28575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68F33C3-60C3-4871-B299-B54916412D9C}"/>
              </a:ext>
            </a:extLst>
          </p:cNvPr>
          <p:cNvSpPr>
            <a:spLocks noGrp="1"/>
          </p:cNvSpPr>
          <p:nvPr/>
        </p:nvSpPr>
        <p:spPr>
          <a:xfrm>
            <a:off x="5448300" y="2152650"/>
            <a:ext cx="262890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5A1B68-D985-4D3C-B98B-8FE261F766F0}"/>
              </a:ext>
            </a:extLst>
          </p:cNvPr>
          <p:cNvSpPr>
            <a:spLocks noGrp="1"/>
          </p:cNvSpPr>
          <p:nvPr/>
        </p:nvSpPr>
        <p:spPr>
          <a:xfrm>
            <a:off x="5619750" y="22764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9006A47-AE41-498B-82DB-01BB988A5006}"/>
              </a:ext>
            </a:extLst>
          </p:cNvPr>
          <p:cNvSpPr>
            <a:spLocks noGrp="1"/>
          </p:cNvSpPr>
          <p:nvPr/>
        </p:nvSpPr>
        <p:spPr>
          <a:xfrm>
            <a:off x="5657850" y="28194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3B2FEB-90D9-4E90-B6B1-AD00B5DB2702}"/>
              </a:ext>
            </a:extLst>
          </p:cNvPr>
          <p:cNvSpPr>
            <a:spLocks noGrp="1"/>
          </p:cNvSpPr>
          <p:nvPr/>
        </p:nvSpPr>
        <p:spPr>
          <a:xfrm>
            <a:off x="5829300" y="29337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요청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6F531FDB-30AB-433A-A801-5B183861B1BD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03727AE-90A2-4818-BF4F-E7D873A76077}"/>
              </a:ext>
            </a:extLst>
          </p:cNvPr>
          <p:cNvSpPr>
            <a:spLocks noGrp="1"/>
          </p:cNvSpPr>
          <p:nvPr/>
        </p:nvSpPr>
        <p:spPr>
          <a:xfrm>
            <a:off x="5657850" y="34099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566DAE-8148-4946-A62F-795E8724D620}"/>
              </a:ext>
            </a:extLst>
          </p:cNvPr>
          <p:cNvSpPr>
            <a:spLocks noGrp="1"/>
          </p:cNvSpPr>
          <p:nvPr/>
        </p:nvSpPr>
        <p:spPr>
          <a:xfrm>
            <a:off x="5829300" y="35242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 err="1">
                <a:solidFill>
                  <a:srgbClr val="F5A524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000" b="1" dirty="0">
                <a:solidFill>
                  <a:srgbClr val="F5A52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5A524"/>
                </a:solidFill>
                <a:latin typeface="Malgun Gothic"/>
                <a:ea typeface="Malgun Gothic"/>
                <a:cs typeface="Malgun Gothic"/>
              </a:rPr>
              <a:t>검토</a:t>
            </a:r>
            <a:endParaRPr sz="1000" b="1" dirty="0">
              <a:solidFill>
                <a:srgbClr val="F5A52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7DBC249B-14F4-4CF2-8FBE-03C46154434C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DF0B817-C974-4159-B624-12816328F5C4}"/>
              </a:ext>
            </a:extLst>
          </p:cNvPr>
          <p:cNvSpPr>
            <a:spLocks noGrp="1"/>
          </p:cNvSpPr>
          <p:nvPr/>
        </p:nvSpPr>
        <p:spPr>
          <a:xfrm>
            <a:off x="5657850" y="40005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E41627-B695-4E7F-A1D9-526D1AF08BED}"/>
              </a:ext>
            </a:extLst>
          </p:cNvPr>
          <p:cNvSpPr>
            <a:spLocks noGrp="1"/>
          </p:cNvSpPr>
          <p:nvPr/>
        </p:nvSpPr>
        <p:spPr>
          <a:xfrm>
            <a:off x="5829300" y="41148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PolicyException 적용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686326A-A4A2-41D3-9CDF-4924C9C04A30}"/>
              </a:ext>
            </a:extLst>
          </p:cNvPr>
          <p:cNvSpPr>
            <a:spLocks noGrp="1"/>
          </p:cNvSpPr>
          <p:nvPr/>
        </p:nvSpPr>
        <p:spPr>
          <a:xfrm>
            <a:off x="6762750" y="44577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5FCE2D-DC9E-4C41-82C0-519F542B6D34}"/>
              </a:ext>
            </a:extLst>
          </p:cNvPr>
          <p:cNvSpPr>
            <a:spLocks noGrp="1"/>
          </p:cNvSpPr>
          <p:nvPr/>
        </p:nvSpPr>
        <p:spPr>
          <a:xfrm>
            <a:off x="5657850" y="45910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205A2D-F824-4956-9200-658D0CD163D9}"/>
              </a:ext>
            </a:extLst>
          </p:cNvPr>
          <p:cNvSpPr>
            <a:spLocks noGrp="1"/>
          </p:cNvSpPr>
          <p:nvPr/>
        </p:nvSpPr>
        <p:spPr>
          <a:xfrm>
            <a:off x="5829300" y="47053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상태 재확인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AD4D162-97F6-4302-A9B9-F9B89411F627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8251ACB-1E93-4C41-96C7-A45A5A17DA94}"/>
              </a:ext>
            </a:extLst>
          </p:cNvPr>
          <p:cNvSpPr>
            <a:spLocks noGrp="1"/>
          </p:cNvSpPr>
          <p:nvPr/>
        </p:nvSpPr>
        <p:spPr>
          <a:xfrm>
            <a:off x="5657850" y="51816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FD15BB-4D1D-4691-9D2F-63AADD6D7094}"/>
              </a:ext>
            </a:extLst>
          </p:cNvPr>
          <p:cNvSpPr>
            <a:spLocks noGrp="1"/>
          </p:cNvSpPr>
          <p:nvPr/>
        </p:nvSpPr>
        <p:spPr>
          <a:xfrm>
            <a:off x="5829300" y="52959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만료 및 회수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7A4F768-14DA-4EB4-B3ED-A5D87934B276}"/>
              </a:ext>
            </a:extLst>
          </p:cNvPr>
          <p:cNvSpPr>
            <a:spLocks noGrp="1"/>
          </p:cNvSpPr>
          <p:nvPr/>
        </p:nvSpPr>
        <p:spPr>
          <a:xfrm>
            <a:off x="8610600" y="3181350"/>
            <a:ext cx="2724150" cy="1847850"/>
          </a:xfrm>
          <a:prstGeom prst="roundRect">
            <a:avLst>
              <a:gd name="adj" fmla="val 4124"/>
            </a:avLst>
          </a:prstGeom>
          <a:solidFill>
            <a:srgbClr val="F7FAFD"/>
          </a:solidFill>
          <a:ln w="10478">
            <a:solidFill>
              <a:srgbClr val="D7E3F0"/>
            </a:solidFill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362AA7-7F3C-4385-831C-C9F4EE289EC3}"/>
              </a:ext>
            </a:extLst>
          </p:cNvPr>
          <p:cNvSpPr>
            <a:spLocks noGrp="1"/>
          </p:cNvSpPr>
          <p:nvPr/>
        </p:nvSpPr>
        <p:spPr>
          <a:xfrm>
            <a:off x="8839200" y="3371850"/>
            <a:ext cx="22669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 lnSpcReduction="20000"/>
          </a:bodyPr>
          <a:lstStyle/>
          <a:p>
            <a:pPr>
              <a:defRPr sz="1500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rPr>
              <a:t>해결 문제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FEC0EEA-817B-43F1-90B4-E57673F37881}"/>
              </a:ext>
            </a:extLst>
          </p:cNvPr>
          <p:cNvSpPr>
            <a:spLocks noGrp="1"/>
          </p:cNvSpPr>
          <p:nvPr/>
        </p:nvSpPr>
        <p:spPr>
          <a:xfrm>
            <a:off x="8839200" y="3733800"/>
            <a:ext cx="2266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예외 적용 상태와 만료 이력 관리 누락</a:t>
            </a:r>
          </a:p>
        </p:txBody>
      </p:sp>
    </p:spTree>
    <p:extLst>
      <p:ext uri="{BB962C8B-B14F-4D97-AF65-F5344CB8AC3E}">
        <p14:creationId xmlns:p14="http://schemas.microsoft.com/office/powerpoint/2010/main" val="359746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3409092-299A-FD90-E84C-89656163AE6D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540DDA-57CD-0940-4490-0292D2C3B1F4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GitOps와 운영 가시화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8C91A569-CCDC-7366-C1A3-65DDBA349AD9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F4244F-969E-4256-8F88-1BC6850F8909}"/>
              </a:ext>
            </a:extLst>
          </p:cNvPr>
          <p:cNvSpPr>
            <a:spLocks noGrp="1"/>
          </p:cNvSpPr>
          <p:nvPr/>
        </p:nvSpPr>
        <p:spPr>
          <a:xfrm>
            <a:off x="1123950" y="1524000"/>
            <a:ext cx="847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>
              <a:defRPr sz="172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예외 YAML 게시와 클러스터 현황 시각화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65533D-464F-497F-9616-9BA11E11C1D8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390525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95163A-38D7-417C-AB06-CB5D8D20B823}"/>
              </a:ext>
            </a:extLst>
          </p:cNvPr>
          <p:cNvSpPr>
            <a:spLocks noGrp="1"/>
          </p:cNvSpPr>
          <p:nvPr/>
        </p:nvSpPr>
        <p:spPr>
          <a:xfrm>
            <a:off x="1238250" y="2152650"/>
            <a:ext cx="367665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6A113B-0192-4F83-B924-3EDA4723F48F}"/>
              </a:ext>
            </a:extLst>
          </p:cNvPr>
          <p:cNvSpPr>
            <a:spLocks noGrp="1"/>
          </p:cNvSpPr>
          <p:nvPr/>
        </p:nvSpPr>
        <p:spPr>
          <a:xfrm>
            <a:off x="1409700" y="2276475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핵심 역할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F5270B-7140-42B2-8E87-78E06F8CF4B6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3333750" cy="2895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YAML과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Kustomization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항목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GitHub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파일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Pull Request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GitHub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설정이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없을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경우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로컬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파일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게시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만료와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취소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게시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해제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클러스터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리소스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위반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41A41A2-E173-43FF-BCAF-3911AE8B1C39}"/>
              </a:ext>
            </a:extLst>
          </p:cNvPr>
          <p:cNvSpPr>
            <a:spLocks noGrp="1"/>
          </p:cNvSpPr>
          <p:nvPr/>
        </p:nvSpPr>
        <p:spPr>
          <a:xfrm>
            <a:off x="5334000" y="2038350"/>
            <a:ext cx="28575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D7E3B7A-74B6-4FDF-B8A2-BB91744BAECC}"/>
              </a:ext>
            </a:extLst>
          </p:cNvPr>
          <p:cNvSpPr>
            <a:spLocks noGrp="1"/>
          </p:cNvSpPr>
          <p:nvPr/>
        </p:nvSpPr>
        <p:spPr>
          <a:xfrm>
            <a:off x="5448300" y="2152650"/>
            <a:ext cx="262890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11C26E-3A1A-4E3D-9A3E-8F505089D860}"/>
              </a:ext>
            </a:extLst>
          </p:cNvPr>
          <p:cNvSpPr>
            <a:spLocks noGrp="1"/>
          </p:cNvSpPr>
          <p:nvPr/>
        </p:nvSpPr>
        <p:spPr>
          <a:xfrm>
            <a:off x="5619750" y="22764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CBB0800-94ED-4922-BA3B-98D4208DD91F}"/>
              </a:ext>
            </a:extLst>
          </p:cNvPr>
          <p:cNvSpPr>
            <a:spLocks noGrp="1"/>
          </p:cNvSpPr>
          <p:nvPr/>
        </p:nvSpPr>
        <p:spPr>
          <a:xfrm>
            <a:off x="5657850" y="28194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5680D70-172C-4DD6-8F4D-70B11F199E0C}"/>
              </a:ext>
            </a:extLst>
          </p:cNvPr>
          <p:cNvSpPr>
            <a:spLocks noGrp="1"/>
          </p:cNvSpPr>
          <p:nvPr/>
        </p:nvSpPr>
        <p:spPr>
          <a:xfrm>
            <a:off x="5829300" y="29337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00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YAML </a:t>
            </a:r>
            <a:r>
              <a:rPr sz="100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sz="100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22A1E53A-301C-4EC1-B0D5-D672720B1E06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0ED3DA-9B76-4D02-B7DA-90671501AC3C}"/>
              </a:ext>
            </a:extLst>
          </p:cNvPr>
          <p:cNvSpPr>
            <a:spLocks noGrp="1"/>
          </p:cNvSpPr>
          <p:nvPr/>
        </p:nvSpPr>
        <p:spPr>
          <a:xfrm>
            <a:off x="5657850" y="34099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561D47-28C1-416E-9E0B-79827649D96F}"/>
              </a:ext>
            </a:extLst>
          </p:cNvPr>
          <p:cNvSpPr>
            <a:spLocks noGrp="1"/>
          </p:cNvSpPr>
          <p:nvPr/>
        </p:nvSpPr>
        <p:spPr>
          <a:xfrm>
            <a:off x="5829300" y="35242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Kustomization 갱신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19BF9E55-40AA-4366-86B4-CC969558DB58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46E253-2933-4F68-AE1C-2B7E73898FAA}"/>
              </a:ext>
            </a:extLst>
          </p:cNvPr>
          <p:cNvSpPr>
            <a:spLocks noGrp="1"/>
          </p:cNvSpPr>
          <p:nvPr/>
        </p:nvSpPr>
        <p:spPr>
          <a:xfrm>
            <a:off x="5657850" y="40005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FDF067-37F8-4633-83E2-59A7F73571A2}"/>
              </a:ext>
            </a:extLst>
          </p:cNvPr>
          <p:cNvSpPr>
            <a:spLocks noGrp="1"/>
          </p:cNvSpPr>
          <p:nvPr/>
        </p:nvSpPr>
        <p:spPr>
          <a:xfrm>
            <a:off x="5829300" y="41148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GitHub PR 생성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B1CE5C93-89C2-4B5D-9FF6-0947BD74DDA4}"/>
              </a:ext>
            </a:extLst>
          </p:cNvPr>
          <p:cNvSpPr>
            <a:spLocks noGrp="1"/>
          </p:cNvSpPr>
          <p:nvPr/>
        </p:nvSpPr>
        <p:spPr>
          <a:xfrm>
            <a:off x="6762750" y="445770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9ACC48-14A2-4BBC-B49D-59C2A18DF437}"/>
              </a:ext>
            </a:extLst>
          </p:cNvPr>
          <p:cNvSpPr>
            <a:spLocks noGrp="1"/>
          </p:cNvSpPr>
          <p:nvPr/>
        </p:nvSpPr>
        <p:spPr>
          <a:xfrm>
            <a:off x="5657850" y="45910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E3F0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154218-DEEE-4C06-A924-0171E5D49330}"/>
              </a:ext>
            </a:extLst>
          </p:cNvPr>
          <p:cNvSpPr>
            <a:spLocks noGrp="1"/>
          </p:cNvSpPr>
          <p:nvPr/>
        </p:nvSpPr>
        <p:spPr>
          <a:xfrm>
            <a:off x="5829300" y="470535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게시 상태 추적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6CE5E8D3-30D1-4DD5-A342-FC3EF79FE016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0" cy="114300"/>
          </a:xfrm>
          <a:prstGeom prst="line">
            <a:avLst/>
          </a:prstGeom>
          <a:noFill/>
          <a:ln w="19050">
            <a:solidFill>
              <a:srgbClr val="5F6F82"/>
            </a:solidFill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7ED5CF5-CDA4-4172-8119-ED8C0BE1BBBC}"/>
              </a:ext>
            </a:extLst>
          </p:cNvPr>
          <p:cNvSpPr>
            <a:spLocks noGrp="1"/>
          </p:cNvSpPr>
          <p:nvPr/>
        </p:nvSpPr>
        <p:spPr>
          <a:xfrm>
            <a:off x="5657850" y="51816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E8F1FB"/>
          </a:solidFill>
          <a:ln w="9525">
            <a:noFill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A84B14E-B71A-4535-A512-505E0EC78594}"/>
              </a:ext>
            </a:extLst>
          </p:cNvPr>
          <p:cNvSpPr>
            <a:spLocks noGrp="1"/>
          </p:cNvSpPr>
          <p:nvPr/>
        </p:nvSpPr>
        <p:spPr>
          <a:xfrm>
            <a:off x="5829300" y="5295900"/>
            <a:ext cx="18669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만료 시 게시 해제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9611513-CC09-4F69-87D7-CFDB7B5437BC}"/>
              </a:ext>
            </a:extLst>
          </p:cNvPr>
          <p:cNvSpPr>
            <a:spLocks noGrp="1"/>
          </p:cNvSpPr>
          <p:nvPr/>
        </p:nvSpPr>
        <p:spPr>
          <a:xfrm>
            <a:off x="8610600" y="3200400"/>
            <a:ext cx="2724150" cy="1847850"/>
          </a:xfrm>
          <a:prstGeom prst="roundRect">
            <a:avLst>
              <a:gd name="adj" fmla="val 4124"/>
            </a:avLst>
          </a:prstGeom>
          <a:solidFill>
            <a:srgbClr val="F7FAFD"/>
          </a:solidFill>
          <a:ln w="10478">
            <a:solidFill>
              <a:srgbClr val="D7E3F0"/>
            </a:solidFill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ED4B4B-0653-4C10-9571-C7D3E2663115}"/>
              </a:ext>
            </a:extLst>
          </p:cNvPr>
          <p:cNvSpPr>
            <a:spLocks noGrp="1"/>
          </p:cNvSpPr>
          <p:nvPr/>
        </p:nvSpPr>
        <p:spPr>
          <a:xfrm>
            <a:off x="8839200" y="3390900"/>
            <a:ext cx="22669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 lnSpcReduction="20000"/>
          </a:bodyPr>
          <a:lstStyle/>
          <a:p>
            <a:pPr>
              <a:defRPr sz="15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해결 문제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FED1BF7-5F2C-4ABC-B968-5F7DAC20EFBA}"/>
              </a:ext>
            </a:extLst>
          </p:cNvPr>
          <p:cNvSpPr>
            <a:spLocks noGrp="1"/>
          </p:cNvSpPr>
          <p:nvPr/>
        </p:nvSpPr>
        <p:spPr>
          <a:xfrm>
            <a:off x="8839200" y="3752850"/>
            <a:ext cx="2266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예외 변경 이력과 운영 상태 추적 어려움</a:t>
            </a:r>
          </a:p>
        </p:txBody>
      </p:sp>
    </p:spTree>
    <p:extLst>
      <p:ext uri="{BB962C8B-B14F-4D97-AF65-F5344CB8AC3E}">
        <p14:creationId xmlns:p14="http://schemas.microsoft.com/office/powerpoint/2010/main" val="1904398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49A6658-3DEE-8885-F250-9DDBC6414D98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7DA694-446F-7CB2-9E06-4BB98855A899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MLOps 적용 기능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C45AF01A-AE17-FE0A-0177-0DD8FC4DC5F6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698956-E670-42BE-A3FC-0B86A78D7E14}"/>
              </a:ext>
            </a:extLst>
          </p:cNvPr>
          <p:cNvSpPr>
            <a:spLocks noGrp="1"/>
          </p:cNvSpPr>
          <p:nvPr/>
        </p:nvSpPr>
        <p:spPr>
          <a:xfrm>
            <a:off x="1123950" y="1524000"/>
            <a:ext cx="847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>
              <a:defRPr sz="1725" b="1">
                <a:solidFill>
                  <a:srgbClr val="E85D7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E85D75"/>
                </a:solidFill>
                <a:latin typeface="Malgun Gothic"/>
                <a:ea typeface="Malgun Gothic"/>
                <a:cs typeface="Malgun Gothic"/>
              </a:rPr>
              <a:t>Notebook, 모델 서빙, 파이프라인 자원 거버넌스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067924-9842-41FC-9AEB-316714CBBF99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390525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D7E3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1410B3-5D14-4A9C-9B1B-AEDD9677BFEC}"/>
              </a:ext>
            </a:extLst>
          </p:cNvPr>
          <p:cNvSpPr>
            <a:spLocks noGrp="1"/>
          </p:cNvSpPr>
          <p:nvPr/>
        </p:nvSpPr>
        <p:spPr>
          <a:xfrm>
            <a:off x="1238250" y="2152650"/>
            <a:ext cx="367665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68E74D-76F3-4C1F-BB14-71EA45DE4FF4}"/>
              </a:ext>
            </a:extLst>
          </p:cNvPr>
          <p:cNvSpPr>
            <a:spLocks noGrp="1"/>
          </p:cNvSpPr>
          <p:nvPr/>
        </p:nvSpPr>
        <p:spPr>
          <a:xfrm>
            <a:off x="1409700" y="2276475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213D"/>
                </a:solidFill>
                <a:latin typeface="Malgun Gothic"/>
                <a:ea typeface="Malgun Gothic"/>
                <a:cs typeface="Malgun Gothic"/>
              </a:rPr>
              <a:t>핵심 역할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751E90-7B5E-4150-BB84-3CCB36C6A918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3333750" cy="2895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Notebook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CR과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PVC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생성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관리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KServe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서빙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리소스와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트래픽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제어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KFP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파이프라인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실행</a:t>
            </a:r>
            <a:r>
              <a:rPr lang="en-US"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및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로그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조회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GPU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사용량과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현황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lang="en-US"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유휴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Notebook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검사와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중지</a:t>
            </a:r>
            <a:r>
              <a:rPr sz="1350" b="0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처리</a:t>
            </a:r>
            <a:endParaRPr sz="1350" b="0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648EAA4A-1E43-D4AD-8FEB-EB3CE0ECA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142" y="2383187"/>
            <a:ext cx="6174106" cy="262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8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AF7B120-8F15-478F-8F6A-A63BCA9A0222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시스템 기술 설명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5B9C4C-394E-4694-BC3F-6EE98F8F8EB3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65077C74-E981-4A0E-90D7-229FDC917FA4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5A15BDE0-1917-6F62-0244-90B676114F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23950" y="1657351"/>
            <a:ext cx="10210800" cy="4554673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218747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D3937D8-1B1D-4EC6-A356-ED0CD79A76C5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FE2AB1-39DD-4EEB-87BD-F6FD88E74E67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성능 평가 및 검증 결과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0810A89A-651A-4A36-AEC1-A5C896C9BAD6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AE01350-6840-4B3D-9433-F0DB1E23BDC1}"/>
              </a:ext>
            </a:extLst>
          </p:cNvPr>
          <p:cNvSpPr>
            <a:spLocks noGrp="1"/>
          </p:cNvSpPr>
          <p:nvPr/>
        </p:nvSpPr>
        <p:spPr>
          <a:xfrm>
            <a:off x="1295400" y="2095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3654A5-ED5F-4A8D-BCDF-B7B1C22DBDAF}"/>
              </a:ext>
            </a:extLst>
          </p:cNvPr>
          <p:cNvSpPr>
            <a:spLocks noGrp="1"/>
          </p:cNvSpPr>
          <p:nvPr/>
        </p:nvSpPr>
        <p:spPr>
          <a:xfrm>
            <a:off x="1524000" y="22860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C4F12E-9189-43EE-8A03-27B49737D8F0}"/>
              </a:ext>
            </a:extLst>
          </p:cNvPr>
          <p:cNvSpPr>
            <a:spLocks noGrp="1"/>
          </p:cNvSpPr>
          <p:nvPr/>
        </p:nvSpPr>
        <p:spPr>
          <a:xfrm>
            <a:off x="1524000" y="27432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테스트 스위트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496632F-376F-409C-9514-D3708CE77219}"/>
              </a:ext>
            </a:extLst>
          </p:cNvPr>
          <p:cNvSpPr>
            <a:spLocks noGrp="1"/>
          </p:cNvSpPr>
          <p:nvPr/>
        </p:nvSpPr>
        <p:spPr>
          <a:xfrm>
            <a:off x="3657600" y="2095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276A5C-09FC-4CDE-85E6-52B47C64786F}"/>
              </a:ext>
            </a:extLst>
          </p:cNvPr>
          <p:cNvSpPr>
            <a:spLocks noGrp="1"/>
          </p:cNvSpPr>
          <p:nvPr/>
        </p:nvSpPr>
        <p:spPr>
          <a:xfrm>
            <a:off x="3886200" y="22860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6B88F"/>
                </a:solidFill>
                <a:latin typeface="Malgun Gothic"/>
                <a:ea typeface="Malgun Gothic"/>
                <a:cs typeface="Malgun Gothic"/>
              </a:rPr>
              <a:t>414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CF677B-25A7-480D-A267-889C3C3E06E2}"/>
              </a:ext>
            </a:extLst>
          </p:cNvPr>
          <p:cNvSpPr>
            <a:spLocks noGrp="1"/>
          </p:cNvSpPr>
          <p:nvPr/>
        </p:nvSpPr>
        <p:spPr>
          <a:xfrm>
            <a:off x="3886200" y="27432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>
              <a:buNone/>
              <a:def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백엔드 테스트 케이스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62BEBD3-03F5-47FB-A53A-73C85DCD5D8C}"/>
              </a:ext>
            </a:extLst>
          </p:cNvPr>
          <p:cNvSpPr>
            <a:spLocks noGrp="1"/>
          </p:cNvSpPr>
          <p:nvPr/>
        </p:nvSpPr>
        <p:spPr>
          <a:xfrm>
            <a:off x="6019800" y="2095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3D832C-92B4-4718-8F2B-CCFD9B761A16}"/>
              </a:ext>
            </a:extLst>
          </p:cNvPr>
          <p:cNvSpPr>
            <a:spLocks noGrp="1"/>
          </p:cNvSpPr>
          <p:nvPr/>
        </p:nvSpPr>
        <p:spPr>
          <a:xfrm>
            <a:off x="6248400" y="22860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5A524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1049CC-45EF-468F-A364-9E9B3DFEED00}"/>
              </a:ext>
            </a:extLst>
          </p:cNvPr>
          <p:cNvSpPr>
            <a:spLocks noGrp="1"/>
          </p:cNvSpPr>
          <p:nvPr/>
        </p:nvSpPr>
        <p:spPr>
          <a:xfrm>
            <a:off x="6248400" y="27432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279" lnSpcReduction="10000"/>
          </a:bodyPr>
          <a:lstStyle/>
          <a:p>
            <a:pPr>
              <a:buNone/>
              <a:def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DB 통합 테스트 케이스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F8C6711-3B57-4B59-86C6-2AB02BDA457C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FA8B5E-4107-4445-87EE-A95DA15C91EE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16002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12" lnSpcReduction="10000"/>
          </a:bodyPr>
          <a:lstStyle/>
          <a:p>
            <a:pPr>
              <a:buNone/>
              <a:defRPr sz="2550" b="1">
                <a:solidFill>
                  <a:srgbClr val="E85D7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85D75"/>
                </a:solidFill>
                <a:latin typeface="Malgun Gothic"/>
                <a:ea typeface="Malgun Gothic"/>
                <a:cs typeface="Malgun Gothic"/>
              </a:rPr>
              <a:t>181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E7C9AE-8577-4472-8F58-8959C8FC16EE}"/>
              </a:ext>
            </a:extLst>
          </p:cNvPr>
          <p:cNvSpPr>
            <a:spLocks noGrp="1"/>
          </p:cNvSpPr>
          <p:nvPr/>
        </p:nvSpPr>
        <p:spPr>
          <a:xfrm>
            <a:off x="8610600" y="27432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F82"/>
                </a:solidFill>
                <a:latin typeface="Malgun Gothic"/>
                <a:ea typeface="Malgun Gothic"/>
                <a:cs typeface="Malgun Gothic"/>
              </a:rPr>
              <a:t>PolicyReport 리소스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740B89-9C60-4499-AE64-FCDD47CCD72C}"/>
              </a:ext>
            </a:extLst>
          </p:cNvPr>
          <p:cNvSpPr>
            <a:spLocks noGrp="1"/>
          </p:cNvSpPr>
          <p:nvPr/>
        </p:nvSpPr>
        <p:spPr>
          <a:xfrm>
            <a:off x="1371600" y="388620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7" lnSpcReduction="20000"/>
          </a:bodyPr>
          <a:lstStyle/>
          <a:p>
            <a:pPr>
              <a:buNone/>
              <a:defRPr sz="1875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평가 환경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AF369F-EA81-4F51-A044-F552DE89355B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78105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AWS EKS 원격 클러스터</a:t>
            </a:r>
          </a:p>
          <a:p>
            <a:pPr>
              <a:buNone/>
              <a:def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- 15개 네임스페이스</a:t>
            </a:r>
          </a:p>
          <a:p>
            <a:pPr>
              <a:buNone/>
              <a:def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- 150개 경량 파드</a:t>
            </a:r>
          </a:p>
          <a:p>
            <a:pPr>
              <a:buNone/>
              <a:def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p50, p95, Max 응답시간 측정</a:t>
            </a:r>
          </a:p>
          <a:p>
            <a:pPr>
              <a:buNone/>
              <a:def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RPS와 동시성 격리 확인</a:t>
            </a:r>
          </a:p>
        </p:txBody>
      </p:sp>
      <p:graphicFrame>
        <p:nvGraphicFramePr>
          <p:cNvPr id="39" name="차트 1"/>
          <p:cNvGraphicFramePr/>
          <p:nvPr/>
        </p:nvGraphicFramePr>
        <p:xfrm>
          <a:off x="5162550" y="333375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858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4A6F28C-9896-4122-92A1-FE5AF307BF78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03DC4D-1F78-44C7-A28C-FC0093E2F19B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관리자 대시보드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8EA326B4-153F-4196-B062-D0977D02E771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pic>
        <p:nvPicPr>
          <p:cNvPr id="13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" y="1777950"/>
            <a:ext cx="7560000" cy="4680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7CBE903-FDE9-40A4-A8AA-03B08DB8BED7}"/>
              </a:ext>
            </a:extLst>
          </p:cNvPr>
          <p:cNvSpPr>
            <a:spLocks noGrp="1"/>
          </p:cNvSpPr>
          <p:nvPr/>
        </p:nvSpPr>
        <p:spPr>
          <a:xfrm>
            <a:off x="9437915" y="2190750"/>
            <a:ext cx="2318656" cy="3611336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62"/>
          </a:bodyPr>
          <a:lstStyle/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클러스터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정책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위반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현황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필요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알림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추적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3139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26D1BA8-5FA8-564C-C18C-1FDE23A1CA16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458DD8-AD04-D2F6-AB38-4ECAD70B55C9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정책 위반 조회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48422488-2397-BFE6-54AD-358F25680332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14C7B6-0DAE-070B-EE53-DC0CEB7AF54C}"/>
              </a:ext>
            </a:extLst>
          </p:cNvPr>
          <p:cNvSpPr>
            <a:spLocks noGrp="1"/>
          </p:cNvSpPr>
          <p:nvPr/>
        </p:nvSpPr>
        <p:spPr>
          <a:xfrm>
            <a:off x="9252857" y="2190750"/>
            <a:ext cx="2503713" cy="3611336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62"/>
          </a:bodyPr>
          <a:lstStyle/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정책 위반 목록 확인</a:t>
            </a:r>
            <a:endParaRPr lang="en-US" altLang="ko-KR"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조건별 위반 내역 탐색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lang="en-US"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예외 요청 대상 식별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Picture 1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777950"/>
            <a:ext cx="7560000" cy="46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704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182996A-A60D-A2A1-04BB-197101AFD32C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9FE7AC-3B96-AE58-C795-598803024804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 신청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D3619777-F240-BA86-BB59-7C30484820B4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7E350F-A141-117A-B061-EE0190040C35}"/>
              </a:ext>
            </a:extLst>
          </p:cNvPr>
          <p:cNvSpPr>
            <a:spLocks noGrp="1"/>
          </p:cNvSpPr>
          <p:nvPr/>
        </p:nvSpPr>
        <p:spPr>
          <a:xfrm>
            <a:off x="9318171" y="2190750"/>
            <a:ext cx="2438399" cy="3611336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62"/>
          </a:bodyPr>
          <a:lstStyle/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예외 적용 대상 지정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만료 시점과 범위 설정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요청 사유 기반 신청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Picture 1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777950"/>
            <a:ext cx="7560000" cy="46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990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37EC2D1-308C-5E8E-592F-86E384AEE763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1E9B3B-9CC7-545C-9462-1E3EA51D910A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 신청 검토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E384B6B8-DFA4-0F4E-3C46-24724F106D88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B4DA82-B29B-5E60-1FF1-1F306CC37317}"/>
              </a:ext>
            </a:extLst>
          </p:cNvPr>
          <p:cNvSpPr>
            <a:spLocks noGrp="1"/>
          </p:cNvSpPr>
          <p:nvPr/>
        </p:nvSpPr>
        <p:spPr>
          <a:xfrm>
            <a:off x="9350829" y="2190750"/>
            <a:ext cx="2405741" cy="3611336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62"/>
          </a:bodyPr>
          <a:lstStyle/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예외 신청 목록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위험도</a:t>
            </a:r>
            <a:r>
              <a:rPr lang="en-US" altLang="ko-KR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적용 범위 검토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승인 </a:t>
            </a:r>
            <a:r>
              <a:rPr lang="en-US" altLang="ko-KR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반려 상태 관리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Picture 10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777950"/>
            <a:ext cx="7560000" cy="46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710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39AD036-EA06-4148-20F3-1D51BF00E746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8981EE-5E39-2845-163F-6E92D2A8C5F0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예외 신청 상세 및 처리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BA3C6D87-AE19-3E26-2BE4-EEDE2757FF2C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3D23A7-B0CA-7E68-885A-CB2C2A3A31C0}"/>
              </a:ext>
            </a:extLst>
          </p:cNvPr>
          <p:cNvSpPr>
            <a:spLocks noGrp="1"/>
          </p:cNvSpPr>
          <p:nvPr/>
        </p:nvSpPr>
        <p:spPr>
          <a:xfrm>
            <a:off x="9318171" y="2190750"/>
            <a:ext cx="2438399" cy="3611336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62"/>
          </a:bodyPr>
          <a:lstStyle/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신청 사유와 대상 확인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승인 </a:t>
            </a:r>
            <a:r>
              <a:rPr lang="en-US" altLang="ko-KR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거절 판단 수행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처리 결과와 이력</a:t>
            </a:r>
            <a:r>
              <a:rPr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dirty="0" err="1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추적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Picture 1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777950"/>
            <a:ext cx="7560000" cy="46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2744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905A28D-339E-879B-DB0D-865DBAD6B778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9ECDF3-9011-DB52-0869-0182364D167F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700" b="1" dirty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감사 로그</a:t>
            </a:r>
            <a:endParaRPr sz="2700" b="1" dirty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6644E112-ED52-3B92-CB21-FF31AAA0D232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119697-9340-AB1C-A9D0-D4430432F928}"/>
              </a:ext>
            </a:extLst>
          </p:cNvPr>
          <p:cNvSpPr>
            <a:spLocks noGrp="1"/>
          </p:cNvSpPr>
          <p:nvPr/>
        </p:nvSpPr>
        <p:spPr>
          <a:xfrm>
            <a:off x="9274629" y="2190750"/>
            <a:ext cx="2645228" cy="3611336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62"/>
          </a:bodyPr>
          <a:lstStyle/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운영 작업 이력 확인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예외 요청 </a:t>
            </a:r>
            <a:r>
              <a:rPr lang="en-US" altLang="ko-KR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승인 기록 추적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650" b="1">
                <a:solidFill>
                  <a:srgbClr val="10365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1" dirty="0">
                <a:solidFill>
                  <a:srgbClr val="10365D"/>
                </a:solidFill>
                <a:latin typeface="Malgun Gothic"/>
                <a:ea typeface="Malgun Gothic"/>
                <a:cs typeface="Malgun Gothic"/>
              </a:rPr>
              <a:t>감사 기준 로그 보존</a:t>
            </a:r>
            <a:endParaRPr sz="1650" b="1" dirty="0">
              <a:solidFill>
                <a:srgbClr val="10365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Picture 10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777950"/>
            <a:ext cx="7560000" cy="468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651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3FAE55-251E-4E2C-BAE2-A6C47C5653A0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화면 및 성능 평가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8F239D-02F5-4736-A1FB-1C7B7523EAEA}"/>
              </a:ext>
            </a:extLst>
          </p:cNvPr>
          <p:cNvSpPr>
            <a:spLocks noGrp="1"/>
          </p:cNvSpPr>
          <p:nvPr/>
        </p:nvSpPr>
        <p:spPr>
          <a:xfrm>
            <a:off x="1123950" y="72390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기대 효과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C3528E4-2737-470C-B2F2-0CDD5AE1A6AF}"/>
              </a:ext>
            </a:extLst>
          </p:cNvPr>
          <p:cNvSpPr>
            <a:spLocks noGrp="1"/>
          </p:cNvSpPr>
          <p:nvPr/>
        </p:nvSpPr>
        <p:spPr>
          <a:xfrm>
            <a:off x="1123950" y="1466850"/>
            <a:ext cx="10210800" cy="0"/>
          </a:xfrm>
          <a:prstGeom prst="line">
            <a:avLst/>
          </a:prstGeom>
          <a:noFill/>
          <a:ln w="13335">
            <a:solidFill>
              <a:srgbClr val="DCE6F0"/>
            </a:solidFill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DC5471-F233-4A8B-90B1-1686DB6D0C9D}"/>
              </a:ext>
            </a:extLst>
          </p:cNvPr>
          <p:cNvSpPr>
            <a:spLocks noGrp="1"/>
          </p:cNvSpPr>
          <p:nvPr/>
        </p:nvSpPr>
        <p:spPr>
          <a:xfrm>
            <a:off x="1428750" y="1866900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B962CF-5764-4314-8D83-A66E2F1B8D3F}"/>
              </a:ext>
            </a:extLst>
          </p:cNvPr>
          <p:cNvSpPr>
            <a:spLocks noGrp="1"/>
          </p:cNvSpPr>
          <p:nvPr/>
        </p:nvSpPr>
        <p:spPr>
          <a:xfrm>
            <a:off x="1752600" y="20288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579" lnSpcReduction="20000"/>
          </a:bodyPr>
          <a:lstStyle/>
          <a:p>
            <a:pPr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정책 위반 대응 시간 단축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83151C-D61E-43A4-8A9F-D51F8D336166}"/>
              </a:ext>
            </a:extLst>
          </p:cNvPr>
          <p:cNvSpPr>
            <a:spLocks noGrp="1"/>
          </p:cNvSpPr>
          <p:nvPr/>
        </p:nvSpPr>
        <p:spPr>
          <a:xfrm>
            <a:off x="5353050" y="202882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30" lnSpcReduction="20000"/>
          </a:bodyPr>
          <a:lstStyle/>
          <a:p>
            <a:pPr>
              <a:buNone/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위반 정보와 예외 요청 한 화면 관리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91C9FAA-3EE2-4376-8059-9306B9F9F3F5}"/>
              </a:ext>
            </a:extLst>
          </p:cNvPr>
          <p:cNvSpPr>
            <a:spLocks noGrp="1"/>
          </p:cNvSpPr>
          <p:nvPr/>
        </p:nvSpPr>
        <p:spPr>
          <a:xfrm>
            <a:off x="1428750" y="2743200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167D1C-A10C-46E8-B83C-B8777D8402AE}"/>
              </a:ext>
            </a:extLst>
          </p:cNvPr>
          <p:cNvSpPr>
            <a:spLocks noGrp="1"/>
          </p:cNvSpPr>
          <p:nvPr/>
        </p:nvSpPr>
        <p:spPr>
          <a:xfrm>
            <a:off x="1752600" y="2905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579" lnSpcReduction="20000"/>
          </a:bodyPr>
          <a:lstStyle/>
          <a:p>
            <a:pPr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GitOps 기반 추적 기능 향상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10E40E-B441-453D-A78F-91F9BAC15B15}"/>
              </a:ext>
            </a:extLst>
          </p:cNvPr>
          <p:cNvSpPr>
            <a:spLocks noGrp="1"/>
          </p:cNvSpPr>
          <p:nvPr/>
        </p:nvSpPr>
        <p:spPr>
          <a:xfrm>
            <a:off x="5353050" y="290512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30" lnSpcReduction="20000"/>
          </a:bodyPr>
          <a:lstStyle/>
          <a:p>
            <a:pPr>
              <a:buNone/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변경 추적, 감사 가능성 향상</a:t>
            </a:r>
            <a:endParaRPr sz="1425" b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94FC56-E580-4554-B5E9-52A4432A548E}"/>
              </a:ext>
            </a:extLst>
          </p:cNvPr>
          <p:cNvSpPr>
            <a:spLocks noGrp="1"/>
          </p:cNvSpPr>
          <p:nvPr/>
        </p:nvSpPr>
        <p:spPr>
          <a:xfrm>
            <a:off x="1428750" y="3619500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D00BE2-A5F9-441D-A613-DCA59CB2BF65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579" lnSpcReduction="20000"/>
          </a:bodyPr>
          <a:lstStyle/>
          <a:p>
            <a:pPr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운영 부담 감소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D0CA13-3C1C-4DEA-814E-40A609AD460B}"/>
              </a:ext>
            </a:extLst>
          </p:cNvPr>
          <p:cNvSpPr>
            <a:spLocks noGrp="1"/>
          </p:cNvSpPr>
          <p:nvPr/>
        </p:nvSpPr>
        <p:spPr>
          <a:xfrm>
            <a:off x="5353050" y="378142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30" lnSpcReduction="20000"/>
          </a:bodyPr>
          <a:lstStyle/>
          <a:p>
            <a:pPr>
              <a:buNone/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반복적인 정책 위반 및 예외 관리 작업 자동화</a:t>
            </a:r>
            <a:endParaRPr sz="1425" b="0">
              <a:solidFill>
                <a:srgbClr val="1721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7376E7-935C-457D-A785-5FE07DC9EA12}"/>
              </a:ext>
            </a:extLst>
          </p:cNvPr>
          <p:cNvSpPr>
            <a:spLocks noGrp="1"/>
          </p:cNvSpPr>
          <p:nvPr/>
        </p:nvSpPr>
        <p:spPr>
          <a:xfrm>
            <a:off x="1428750" y="4495800"/>
            <a:ext cx="838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CE6F0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EB03B3-835C-484F-8ECE-7A9B49D2CB5A}"/>
              </a:ext>
            </a:extLst>
          </p:cNvPr>
          <p:cNvSpPr>
            <a:spLocks noGrp="1"/>
          </p:cNvSpPr>
          <p:nvPr/>
        </p:nvSpPr>
        <p:spPr>
          <a:xfrm>
            <a:off x="1752600" y="46577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579" lnSpcReduction="20000"/>
          </a:bodyPr>
          <a:lstStyle/>
          <a:p>
            <a:pPr>
              <a:buNone/>
              <a:def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MLOps 정책 확장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D94CB5-E185-4728-AFAE-A0855761C56E}"/>
              </a:ext>
            </a:extLst>
          </p:cNvPr>
          <p:cNvSpPr>
            <a:spLocks noGrp="1"/>
          </p:cNvSpPr>
          <p:nvPr/>
        </p:nvSpPr>
        <p:spPr>
          <a:xfrm>
            <a:off x="5353050" y="465772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30" lnSpcReduction="20000"/>
          </a:bodyPr>
          <a:lstStyle/>
          <a:p>
            <a:pPr>
              <a:buNone/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Notebook, Pipeline, KServe 자원 관리</a:t>
            </a:r>
          </a:p>
        </p:txBody>
      </p:sp>
    </p:spTree>
    <p:extLst>
      <p:ext uri="{BB962C8B-B14F-4D97-AF65-F5344CB8AC3E}">
        <p14:creationId xmlns:p14="http://schemas.microsoft.com/office/powerpoint/2010/main" val="9814748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731</Words>
  <Application>Microsoft Office PowerPoint</Application>
  <DocSecurity>0</DocSecurity>
  <PresentationFormat>와이드스크린</PresentationFormat>
  <Paragraphs>218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pty4pp@naver.com</cp:lastModifiedBy>
  <cp:revision>3</cp:revision>
  <dcterms:created xsi:type="dcterms:W3CDTF">2026-09-16T01:08:33Z</dcterms:created>
  <dcterms:modified xsi:type="dcterms:W3CDTF">2026-09-16T04:43:27Z</dcterms:modified>
</cp:coreProperties>
</file>